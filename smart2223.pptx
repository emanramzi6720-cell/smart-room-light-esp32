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44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822960"/>
            <a:ext cx="2011680" cy="2011680"/>
          </a:xfrm>
          <a:prstGeom prst="ellipse">
            <a:avLst/>
          </a:prstGeom>
          <a:solidFill>
            <a:srgbClr val="0F6B5C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1645920"/>
            <a:ext cx="1005840" cy="1005840"/>
          </a:xfrm>
          <a:prstGeom prst="ellipse">
            <a:avLst/>
          </a:prstGeom>
          <a:solidFill>
            <a:srgbClr val="E08E45">
              <a:alpha val="9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37744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Room Light Control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3246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59436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8686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smart, energy-saving room light system: it detects when the door opens, then checks for motion inside the room, and only turns the light ON when both conditions are true.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2203353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4F7F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to turn off the light when leaving a room wastes energy.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89120" y="2203353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4F7F6"/>
          </a:solidFill>
          <a:ln/>
        </p:spPr>
      </p:sp>
      <p:sp>
        <p:nvSpPr>
          <p:cNvPr id="9" name="Text 7"/>
          <p:cNvSpPr/>
          <p:nvPr/>
        </p:nvSpPr>
        <p:spPr>
          <a:xfrm>
            <a:off x="443484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663440" y="342900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sense whether someone is actually in the room before turning the light on.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92440" y="2203353"/>
            <a:ext cx="3383280" cy="3108960"/>
          </a:xfrm>
          <a:prstGeom prst="roundRect">
            <a:avLst>
              <a:gd name="adj" fmla="val 3529"/>
            </a:avLst>
          </a:prstGeom>
          <a:solidFill>
            <a:srgbClr val="F4F7F6"/>
          </a:solidFill>
          <a:ln/>
        </p:spPr>
      </p:sp>
      <p:sp>
        <p:nvSpPr>
          <p:cNvPr id="12" name="Text 10"/>
          <p:cNvSpPr/>
          <p:nvPr/>
        </p:nvSpPr>
        <p:spPr>
          <a:xfrm>
            <a:off x="8138160" y="288036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366760" y="3429000"/>
            <a:ext cx="2926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monitoring and control through a Node-RED dashboard.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Components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63040"/>
            <a:ext cx="1097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2103120" y="157276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Board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03120" y="199339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controller; reads sensors and connects to Wi-Fi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31520" y="274320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743200"/>
            <a:ext cx="1097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103120" y="285292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Switch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03120" y="327355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whether the door is open or closed (GPIO 12)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731520" y="402336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E8F3F0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023360"/>
            <a:ext cx="1097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103120" y="413308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 Motion Sensor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03120" y="455371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 person's presence inside the room (GPIO 14)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31520" y="5303520"/>
            <a:ext cx="10698480" cy="1143000"/>
          </a:xfrm>
          <a:prstGeom prst="roundRect">
            <a:avLst>
              <a:gd name="adj" fmla="val 8000"/>
            </a:avLst>
          </a:prstGeom>
          <a:solidFill>
            <a:srgbClr val="F4F7F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5303520"/>
            <a:ext cx="109728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2103120" y="541324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/ Relay Light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03120" y="583387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light being controlled (GPIO 27)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476756" y="2651760"/>
            <a:ext cx="2286000" cy="1188720"/>
          </a:xfrm>
          <a:prstGeom prst="roundRect">
            <a:avLst>
              <a:gd name="adj" fmla="val 11538"/>
            </a:avLst>
          </a:prstGeom>
          <a:solidFill>
            <a:srgbClr val="0F6B5C"/>
          </a:solidFill>
          <a:ln/>
        </p:spPr>
      </p:sp>
      <p:sp>
        <p:nvSpPr>
          <p:cNvPr id="5" name="Text 3"/>
          <p:cNvSpPr/>
          <p:nvPr/>
        </p:nvSpPr>
        <p:spPr>
          <a:xfrm>
            <a:off x="1476756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3899916" y="3108960"/>
            <a:ext cx="914400" cy="274320"/>
          </a:xfrm>
          <a:prstGeom prst="rightArrow">
            <a:avLst/>
          </a:prstGeom>
          <a:solidFill>
            <a:srgbClr val="5B6B73"/>
          </a:solidFill>
          <a:ln/>
        </p:spPr>
      </p:sp>
      <p:sp>
        <p:nvSpPr>
          <p:cNvPr id="7" name="Shape 5"/>
          <p:cNvSpPr/>
          <p:nvPr/>
        </p:nvSpPr>
        <p:spPr>
          <a:xfrm>
            <a:off x="4951476" y="2651760"/>
            <a:ext cx="2286000" cy="1188720"/>
          </a:xfrm>
          <a:prstGeom prst="roundRect">
            <a:avLst>
              <a:gd name="adj" fmla="val 11538"/>
            </a:avLst>
          </a:prstGeom>
          <a:solidFill>
            <a:srgbClr val="0F6B5C"/>
          </a:solidFill>
          <a:ln/>
        </p:spPr>
      </p:sp>
      <p:sp>
        <p:nvSpPr>
          <p:cNvPr id="8" name="Text 6"/>
          <p:cNvSpPr/>
          <p:nvPr/>
        </p:nvSpPr>
        <p:spPr>
          <a:xfrm>
            <a:off x="4951476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detected?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74636" y="3108960"/>
            <a:ext cx="914400" cy="274320"/>
          </a:xfrm>
          <a:prstGeom prst="rightArrow">
            <a:avLst/>
          </a:prstGeom>
          <a:solidFill>
            <a:srgbClr val="5B6B73"/>
          </a:solidFill>
          <a:ln/>
        </p:spPr>
      </p:sp>
      <p:sp>
        <p:nvSpPr>
          <p:cNvPr id="10" name="Shape 8"/>
          <p:cNvSpPr/>
          <p:nvPr/>
        </p:nvSpPr>
        <p:spPr>
          <a:xfrm>
            <a:off x="8426196" y="2651760"/>
            <a:ext cx="2286000" cy="1188720"/>
          </a:xfrm>
          <a:prstGeom prst="roundRect">
            <a:avLst>
              <a:gd name="adj" fmla="val 11538"/>
            </a:avLst>
          </a:prstGeom>
          <a:solidFill>
            <a:srgbClr val="E08E45"/>
          </a:solidFill>
          <a:ln/>
        </p:spPr>
      </p:sp>
      <p:sp>
        <p:nvSpPr>
          <p:cNvPr id="11" name="Text 9"/>
          <p:cNvSpPr/>
          <p:nvPr/>
        </p:nvSpPr>
        <p:spPr>
          <a:xfrm>
            <a:off x="8426196" y="265176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LED ON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light only turns on when both conditions are true at the same time.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651760" y="5120640"/>
            <a:ext cx="6858000" cy="1005840"/>
          </a:xfrm>
          <a:prstGeom prst="roundRect">
            <a:avLst>
              <a:gd name="adj" fmla="val 9091"/>
            </a:avLst>
          </a:prstGeom>
          <a:solidFill>
            <a:srgbClr val="F4F7F6"/>
          </a:solidFill>
          <a:ln/>
        </p:spPr>
      </p:sp>
      <p:sp>
        <p:nvSpPr>
          <p:cNvPr id="14" name="Text 12"/>
          <p:cNvSpPr/>
          <p:nvPr/>
        </p:nvSpPr>
        <p:spPr>
          <a:xfrm>
            <a:off x="2880360" y="52578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in door / motion / LED state is published instantly over MQTT so Node-RED sees it in real time.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6675120" cy="4709160"/>
          </a:xfrm>
          <a:prstGeom prst="roundRect">
            <a:avLst>
              <a:gd name="adj" fmla="val 1942"/>
            </a:avLst>
          </a:prstGeom>
          <a:solidFill>
            <a:srgbClr val="12232E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69164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door_opened = door_switch.value()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motion = pir_sensor.value()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door_opened: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motion: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led.value(1)   # LED ON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else: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led.value(0)   # LED OFF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else:</a:t>
            </a:r>
            <a:endParaRPr lang="en-US" sz="15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500" dirty="0">
                <a:solidFill>
                  <a:srgbClr val="D6E9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led.value(0)       # LED OFF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600200"/>
            <a:ext cx="128016" cy="128016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0" y="14173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 + motion detected -&gt; light turns 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680960" y="2651760"/>
            <a:ext cx="128016" cy="128016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0" y="246888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open, no motion -&gt; light stays OFF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80960" y="3703320"/>
            <a:ext cx="128016" cy="128016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11" name="Text 9"/>
          <p:cNvSpPr/>
          <p:nvPr/>
        </p:nvSpPr>
        <p:spPr>
          <a:xfrm>
            <a:off x="7955280" y="352044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 closed -&gt; light turns OFF instantly (saves energy)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MQTT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state (door / motion / light) is published on a different "topic" — any device subscribed to that topic receives it in real time.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10698480" cy="548640"/>
          </a:xfrm>
          <a:prstGeom prst="rect">
            <a:avLst/>
          </a:prstGeom>
          <a:solidFill>
            <a:srgbClr val="0F6B5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286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931920" y="228600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680960" y="22860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834640"/>
            <a:ext cx="10698480" cy="77724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83464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home/door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283464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ESP32 -&gt; Node-RED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680960" y="283464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/ CLOSED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31520" y="3611880"/>
            <a:ext cx="10698480" cy="777240"/>
          </a:xfrm>
          <a:prstGeom prst="rect">
            <a:avLst/>
          </a:prstGeom>
          <a:solidFill>
            <a:srgbClr val="E8F3F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1188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home/motion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361188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ESP32 -&gt; Node-RED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680960" y="361188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/ CLEAR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10698480" cy="777240"/>
          </a:xfrm>
          <a:prstGeom prst="rect">
            <a:avLst/>
          </a:prstGeom>
          <a:solidFill>
            <a:srgbClr val="F4F7F6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38912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home/led/state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438912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ESP32 -&gt; Node-RED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680960" y="438912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OFF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731520" y="5166360"/>
            <a:ext cx="10698480" cy="777240"/>
          </a:xfrm>
          <a:prstGeom prst="rect">
            <a:avLst/>
          </a:prstGeom>
          <a:solidFill>
            <a:srgbClr val="E8F3F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5166360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223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home/led/cmd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5166360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-&gt; ESP32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680960" y="5166360"/>
            <a:ext cx="3749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/ OFF / AUTO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548872" y="64008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Node-RED Dashboard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Node-RED receives the MQTT data and shows it on a simple dashboard, while also allowing manual control of the light.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88720" y="2194560"/>
            <a:ext cx="9784080" cy="4023360"/>
          </a:xfrm>
          <a:prstGeom prst="roundRect">
            <a:avLst>
              <a:gd name="adj" fmla="val 2727"/>
            </a:avLst>
          </a:prstGeom>
          <a:solidFill>
            <a:srgbClr val="12232E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26517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C3A38"/>
          </a:solidFill>
          <a:ln/>
        </p:spPr>
      </p:sp>
      <p:sp>
        <p:nvSpPr>
          <p:cNvPr id="7" name="Text 5"/>
          <p:cNvSpPr/>
          <p:nvPr/>
        </p:nvSpPr>
        <p:spPr>
          <a:xfrm>
            <a:off x="164592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606040" y="3154680"/>
            <a:ext cx="640080" cy="64008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0" y="26517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C3A3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32120" y="3154680"/>
            <a:ext cx="640080" cy="640080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12" name="Shape 10"/>
          <p:cNvSpPr/>
          <p:nvPr/>
        </p:nvSpPr>
        <p:spPr>
          <a:xfrm>
            <a:off x="7498080" y="2651760"/>
            <a:ext cx="2560320" cy="1463040"/>
          </a:xfrm>
          <a:prstGeom prst="roundRect">
            <a:avLst>
              <a:gd name="adj" fmla="val 6250"/>
            </a:avLst>
          </a:prstGeom>
          <a:solidFill>
            <a:srgbClr val="1C3A38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0" y="2788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FC7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58200" y="3154680"/>
            <a:ext cx="640080" cy="640080"/>
          </a:xfrm>
          <a:prstGeom prst="ellipse">
            <a:avLst/>
          </a:prstGeom>
          <a:solidFill>
            <a:srgbClr val="0F6B5C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5920" y="4389120"/>
            <a:ext cx="8869680" cy="1188720"/>
          </a:xfrm>
          <a:prstGeom prst="roundRect">
            <a:avLst>
              <a:gd name="adj" fmla="val 7692"/>
            </a:avLst>
          </a:prstGeom>
          <a:solidFill>
            <a:srgbClr val="1C3A38"/>
          </a:solidFill>
          <a:ln/>
        </p:spPr>
      </p:sp>
      <p:sp>
        <p:nvSpPr>
          <p:cNvPr id="16" name="Text 14"/>
          <p:cNvSpPr/>
          <p:nvPr/>
        </p:nvSpPr>
        <p:spPr>
          <a:xfrm>
            <a:off x="2011680" y="43891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Control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9200" y="4617720"/>
            <a:ext cx="1188720" cy="640080"/>
          </a:xfrm>
          <a:prstGeom prst="roundRect">
            <a:avLst>
              <a:gd name="adj" fmla="val 50000"/>
            </a:avLst>
          </a:prstGeom>
          <a:solidFill>
            <a:srgbClr val="0F6B5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4617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92240" y="4617720"/>
            <a:ext cx="1188720" cy="640080"/>
          </a:xfrm>
          <a:prstGeom prst="roundRect">
            <a:avLst>
              <a:gd name="adj" fmla="val 50000"/>
            </a:avLst>
          </a:prstGeom>
          <a:solidFill>
            <a:srgbClr val="0F6B5C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617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55280" y="4617720"/>
            <a:ext cx="1188720" cy="640080"/>
          </a:xfrm>
          <a:prstGeom prst="roundRect">
            <a:avLst>
              <a:gd name="adj" fmla="val 50000"/>
            </a:avLst>
          </a:prstGeom>
          <a:solidFill>
            <a:srgbClr val="E08E45"/>
          </a:solidFill>
          <a:ln/>
        </p:spPr>
      </p:sp>
      <p:sp>
        <p:nvSpPr>
          <p:cNvPr id="22" name="Text 20"/>
          <p:cNvSpPr/>
          <p:nvPr/>
        </p:nvSpPr>
        <p:spPr>
          <a:xfrm>
            <a:off x="7955280" y="461772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Implementation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-202575" y="4675459"/>
            <a:ext cx="6949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Dashboard (Node-RED Dashboard)</a:t>
            </a:r>
            <a:endParaRPr lang="en-US" sz="1400" dirty="0"/>
          </a:p>
        </p:txBody>
      </p:sp>
      <p:pic>
        <p:nvPicPr>
          <p:cNvPr id="5" name="Image 1" descr="nodered_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4416" y="1374474"/>
            <a:ext cx="6035040" cy="33009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0B7DF5-5370-465E-A00D-1E5A772E10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925211"/>
            <a:ext cx="4709755" cy="23816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15F7AC2-0E64-4D89-96FF-B4CE51032C7F}"/>
              </a:ext>
            </a:extLst>
          </p:cNvPr>
          <p:cNvSpPr txBox="1"/>
          <p:nvPr/>
        </p:nvSpPr>
        <p:spPr>
          <a:xfrm>
            <a:off x="7039473" y="4749277"/>
            <a:ext cx="366217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400" dirty="0">
                <a:solidFill>
                  <a:srgbClr val="5B6B73"/>
                </a:solidFill>
                <a:latin typeface="Calibri" pitchFamily="34" charset="0"/>
                <a:cs typeface="Calibri" pitchFamily="34" charset="-120"/>
              </a:rPr>
              <a:t>Node-RED Flow (sensors and control)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3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993392"/>
            <a:ext cx="146304" cy="146304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1783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energy by turning the light on only when actually needed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914400" y="2953512"/>
            <a:ext cx="146304" cy="146304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6" name="Text 4"/>
          <p:cNvSpPr/>
          <p:nvPr/>
        </p:nvSpPr>
        <p:spPr>
          <a:xfrm>
            <a:off x="1280160" y="2743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remote monitoring and control through Node-RED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914400" y="3913632"/>
            <a:ext cx="146304" cy="146304"/>
          </a:xfrm>
          <a:prstGeom prst="ellipse">
            <a:avLst/>
          </a:prstGeom>
          <a:solidFill>
            <a:srgbClr val="E08E45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703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700" dirty="0">
                <a:solidFill>
                  <a:srgbClr val="E7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later with more sensors or additional rooms using the same idea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9144000" y="1828800"/>
            <a:ext cx="2103120" cy="2286000"/>
          </a:xfrm>
          <a:prstGeom prst="roundRect">
            <a:avLst>
              <a:gd name="adj" fmla="val 5217"/>
            </a:avLst>
          </a:prstGeom>
          <a:solidFill>
            <a:srgbClr val="F4F7F6"/>
          </a:solidFill>
          <a:ln/>
        </p:spPr>
      </p:sp>
      <p:pic>
        <p:nvPicPr>
          <p:cNvPr id="10" name="Image 0" descr="project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0" y="2011680"/>
            <a:ext cx="1554480" cy="1554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44000" y="361188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22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to open the project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595360" y="42519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B4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wokwi.com/projects/470887190300809217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08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472</Words>
  <Application>Microsoft Office PowerPoint</Application>
  <PresentationFormat>Widescreen</PresentationFormat>
  <Paragraphs>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Me</cp:lastModifiedBy>
  <cp:revision>3</cp:revision>
  <dcterms:created xsi:type="dcterms:W3CDTF">2026-07-30T00:55:30Z</dcterms:created>
  <dcterms:modified xsi:type="dcterms:W3CDTF">2026-07-30T01:12:20Z</dcterms:modified>
</cp:coreProperties>
</file>